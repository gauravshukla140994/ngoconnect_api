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E2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E22"/>
                </a:solidFill>
                <a:latin typeface="Arial"/>
              </a:rPr>
              <a:t>TAM / SAM / SOM  (INR Crore)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(INR Crore)</c:v>
                </c:pt>
              </c:strCache>
            </c:strRef>
          </c:tx>
          <c:spPr>
            <a:solidFill>
              <a:srgbClr val="2D8A4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0E9-434A-8558-50D8A57F1633}"/>
              </c:ext>
            </c:extLst>
          </c:dPt>
          <c:dPt>
            <c:idx val="1"/>
            <c:invertIfNegative val="0"/>
            <c:bubble3D val="0"/>
            <c:spPr>
              <a:solidFill>
                <a:srgbClr val="52B7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0E9-434A-8558-50D8A57F1633}"/>
              </c:ext>
            </c:extLst>
          </c:dPt>
          <c:dPt>
            <c:idx val="2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0E9-434A-8558-50D8A57F163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TAM -- India Social Sector Digital</c:v>
                </c:pt>
                <c:pt idx="1">
                  <c:v>SAM -- NGO/CSR SaaS + Donations</c:v>
                </c:pt>
                <c:pt idx="2">
                  <c:v>SOM -- 5-Year Obtainable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25000</c:v>
                </c:pt>
                <c:pt idx="1">
                  <c:v>2500</c:v>
                </c:pt>
                <c:pt idx="2">
                  <c:v>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0E9-434A-8558-50D8A57F1633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E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5D5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8F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E2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E22"/>
                </a:solidFill>
                <a:latin typeface="Arial"/>
              </a:rPr>
              <a:t>Annual Revenue (INR Crore)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(INR Cr)</c:v>
                </c:pt>
              </c:strCache>
            </c:strRef>
          </c:tx>
          <c:spPr>
            <a:ln w="38100" cap="flat">
              <a:solidFill>
                <a:srgbClr val="2D8A4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D8A4E"/>
              </a:solidFill>
              <a:ln w="9525" cap="flat">
                <a:solidFill>
                  <a:srgbClr val="2D8A4E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A2E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Y1 2026</c:v>
                </c:pt>
                <c:pt idx="1">
                  <c:v>Y2 2027</c:v>
                </c:pt>
                <c:pt idx="2">
                  <c:v>Y3 2028</c:v>
                </c:pt>
                <c:pt idx="3">
                  <c:v>Y4 2029</c:v>
                </c:pt>
                <c:pt idx="4">
                  <c:v>Y5 2030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</c:v>
                </c:pt>
                <c:pt idx="1">
                  <c:v>1.5</c:v>
                </c:pt>
                <c:pt idx="2">
                  <c:v>7</c:v>
                </c:pt>
                <c:pt idx="3">
                  <c:v>25</c:v>
                </c:pt>
                <c:pt idx="4">
                  <c:v>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D45-46C6-BE98-AEB078DB812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E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8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8F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5291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Cover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Problem &amp; Opportunity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Solution 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Market Opportunity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Revenue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6 -- 5-Year Growth Projection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Traction &amp; Why Now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The Ask &amp; Vision 2030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9 -- Appendix: Revenue Model Landscape (10 models, excluding ad-supported)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3657600" cy="3657600"/>
          </a:xfrm>
          <a:prstGeom prst="ellipse">
            <a:avLst/>
          </a:prstGeom>
          <a:solidFill>
            <a:srgbClr val="2D8A4E">
              <a:alpha val="22000"/>
            </a:srgbClr>
          </a:solidFill>
          <a:ln w="12700">
            <a:solidFill>
              <a:srgbClr val="2D8A4E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49840" y="-182880"/>
            <a:ext cx="2194560" cy="2194560"/>
          </a:xfrm>
          <a:prstGeom prst="ellipse">
            <a:avLst/>
          </a:prstGeom>
          <a:solidFill>
            <a:srgbClr val="52B788">
              <a:alpha val="30000"/>
            </a:srgbClr>
          </a:solidFill>
          <a:ln w="12700">
            <a:solidFill>
              <a:srgbClr val="52B78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822960" y="4846320"/>
            <a:ext cx="2743200" cy="2743200"/>
          </a:xfrm>
          <a:prstGeom prst="ellipse">
            <a:avLst/>
          </a:prstGeom>
          <a:solidFill>
            <a:srgbClr val="52B788">
              <a:alpha val="15000"/>
            </a:srgbClr>
          </a:solidFill>
          <a:ln w="12700">
            <a:solidFill>
              <a:srgbClr val="52B788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2468880" cy="347472"/>
          </a:xfrm>
          <a:prstGeom prst="roundRect">
            <a:avLst/>
          </a:prstGeom>
          <a:solidFill>
            <a:srgbClr val="1B5E35"/>
          </a:solidFill>
          <a:ln w="12700">
            <a:solidFill>
              <a:srgbClr val="52B788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PITCH  - 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801368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Ripplehub.app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548640" y="3090672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LinkedIn of Social Impact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48640" y="3822192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AA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Digital Ecosystem connecting NGOs, Volunteers, Donors,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AA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Organizations &amp; Government -- built for India, designed to scale.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5074920"/>
            <a:ext cx="2514600" cy="1417320"/>
          </a:xfrm>
          <a:prstGeom prst="rect">
            <a:avLst/>
          </a:prstGeom>
          <a:solidFill>
            <a:srgbClr val="1B5E35">
              <a:alpha val="6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5120640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3.3M+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583387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NGOs in India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5074920"/>
            <a:ext cx="2514600" cy="1417320"/>
          </a:xfrm>
          <a:prstGeom prst="rect">
            <a:avLst/>
          </a:prstGeom>
          <a:solidFill>
            <a:srgbClr val="1B5E35">
              <a:alpha val="6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5120640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INR 15,000 Cr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91840" y="583387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CSR Mandatory Spend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5074920"/>
            <a:ext cx="2514600" cy="1417320"/>
          </a:xfrm>
          <a:prstGeom prst="rect">
            <a:avLst/>
          </a:prstGeom>
          <a:solidFill>
            <a:srgbClr val="1B5E35">
              <a:alpha val="6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5120640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450M+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035040" y="583387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Volunteers (15-35 yrs)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NGO Sector: Massive Scale, Zero Digital Infrastructure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7840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largest volunteer economy runs on WhatsApp, Excel, and paper.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11480" y="1463040"/>
            <a:ext cx="37033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F0E8"/>
            </a:solidFill>
            <a:prstDash val="solid"/>
          </a:ln>
          <a:effectLst>
            <a:outerShdw blurRad="101600" dist="381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463040"/>
            <a:ext cx="3703320" cy="91440"/>
          </a:xfrm>
          <a:prstGeom prst="rect">
            <a:avLst/>
          </a:prstGeom>
          <a:solidFill>
            <a:srgbClr val="2D8A4E"/>
          </a:solidFill>
          <a:ln w="12700">
            <a:solidFill>
              <a:srgbClr val="2D8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6420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Operations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157984"/>
            <a:ext cx="33375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NGOs manage volunteers, donors, and programs across WhatsApp, Excel, and email. No audit trail. No single dashboard.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463040"/>
            <a:ext cx="37033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F0E8"/>
            </a:solidFill>
            <a:prstDash val="solid"/>
          </a:ln>
          <a:effectLst>
            <a:outerShdw blurRad="101600" dist="381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25112" y="1463040"/>
            <a:ext cx="3703320" cy="91440"/>
          </a:xfrm>
          <a:prstGeom prst="rect">
            <a:avLst/>
          </a:prstGeom>
          <a:solidFill>
            <a:srgbClr val="2D8A4E"/>
          </a:solidFill>
          <a:ln w="12700">
            <a:solidFill>
              <a:srgbClr val="2D8A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166420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Digital Identity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07992" y="2157984"/>
            <a:ext cx="33375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 have no verifiable impact record. NGOs have no trusted digital presence. Donors cannot verify authenticity.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38744" y="1463040"/>
            <a:ext cx="37033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F0E8"/>
            </a:solidFill>
            <a:prstDash val="solid"/>
          </a:ln>
          <a:effectLst>
            <a:outerShdw blurRad="101600" dist="381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38744" y="1463040"/>
            <a:ext cx="3703320" cy="91440"/>
          </a:xfrm>
          <a:prstGeom prst="rect">
            <a:avLst/>
          </a:prstGeom>
          <a:solidFill>
            <a:srgbClr val="2D8A4E"/>
          </a:solidFill>
          <a:ln w="12700">
            <a:solidFill>
              <a:srgbClr val="2D8A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21624" y="166420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Impact Visibility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21624" y="2157984"/>
            <a:ext cx="33375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companies spend INR 15,000+ Cr annually with no real-time tracking. Govt schemes lack digital compliance layers.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3950208"/>
            <a:ext cx="11338560" cy="868680"/>
          </a:xfrm>
          <a:prstGeom prst="rect">
            <a:avLst/>
          </a:prstGeom>
          <a:solidFill>
            <a:srgbClr val="0D2B1A"/>
          </a:solidFill>
          <a:ln w="12700">
            <a:solidFill>
              <a:srgbClr val="0D2B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950208"/>
            <a:ext cx="11338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Opportunity: Build the digital backbone for India's INR 1 lakh crore social economy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11480" y="4956048"/>
            <a:ext cx="2697480" cy="1572768"/>
          </a:xfrm>
          <a:prstGeom prst="rect">
            <a:avLst/>
          </a:prstGeom>
          <a:solidFill>
            <a:srgbClr val="E4F0E8"/>
          </a:solidFill>
          <a:ln w="12700">
            <a:solidFill>
              <a:srgbClr val="52B788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5029200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8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3.3M+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11480" y="574243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NGOs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46120" y="4956048"/>
            <a:ext cx="2697480" cy="1572768"/>
          </a:xfrm>
          <a:prstGeom prst="rect">
            <a:avLst/>
          </a:prstGeom>
          <a:solidFill>
            <a:srgbClr val="E4F0E8"/>
          </a:solidFill>
          <a:ln w="12700">
            <a:solidFill>
              <a:srgbClr val="52B788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5029200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8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INR 15,000 Cr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246120" y="574243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CSR Spend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80760" y="4956048"/>
            <a:ext cx="2697480" cy="1572768"/>
          </a:xfrm>
          <a:prstGeom prst="rect">
            <a:avLst/>
          </a:prstGeom>
          <a:solidFill>
            <a:srgbClr val="E4F0E8"/>
          </a:solidFill>
          <a:ln w="12700">
            <a:solidFill>
              <a:srgbClr val="52B788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5029200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8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450M+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080760" y="574243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Volunteers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915400" y="4956048"/>
            <a:ext cx="2697480" cy="1572768"/>
          </a:xfrm>
          <a:prstGeom prst="rect">
            <a:avLst/>
          </a:prstGeom>
          <a:solidFill>
            <a:srgbClr val="E4F0E8"/>
          </a:solidFill>
          <a:ln w="12700">
            <a:solidFill>
              <a:srgbClr val="52B788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15400" y="5029200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8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30%+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915400" y="574243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Philanthropy CAGR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D2B1A"/>
          </a:solidFill>
          <a:ln w="12700">
            <a:solidFill>
              <a:srgbClr val="0D2B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0292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</a:t>
            </a:r>
            <a:endParaRPr lang="en-US" sz="2900" dirty="0"/>
          </a:p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Entire Ecosystem.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320040" y="237744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 err="1">
                <a:solidFill>
                  <a:srgbClr val="AA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Ripplehub</a:t>
            </a:r>
            <a:r>
              <a:rPr lang="en-US" sz="1250" dirty="0">
                <a:solidFill>
                  <a:srgbClr val="AA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first end-to-end enterprise platform for the Indian social sector -- built for scale, compliance, and real-world impact.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3840480"/>
            <a:ext cx="155448" cy="1554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79476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Registration &amp; Verification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4187952"/>
            <a:ext cx="155448" cy="1554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414223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Management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4535424"/>
            <a:ext cx="155448" cy="1554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448970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&amp; Payments (Razorpay)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4882896"/>
            <a:ext cx="155448" cy="1554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83717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Partner Portal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5230368"/>
            <a:ext cx="155448" cy="1554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518464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Analytics &amp; Reporting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5577840"/>
            <a:ext cx="155448" cy="1554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553212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Emergency Response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5925312"/>
            <a:ext cx="155448" cy="1554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587959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&amp; Communication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6272784"/>
            <a:ext cx="155448" cy="1554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22706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&amp; Compliance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434840" y="25603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Stakeholder Types. One Unified Network.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4434840" y="914400"/>
            <a:ext cx="1234440" cy="1234440"/>
          </a:xfrm>
          <a:prstGeom prst="ellipse">
            <a:avLst/>
          </a:prstGeom>
          <a:solidFill>
            <a:srgbClr val="2D8A4E"/>
          </a:solidFill>
          <a:ln w="12700">
            <a:solidFill>
              <a:srgbClr val="2D8A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126187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279392" y="2221992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71032" y="914400"/>
            <a:ext cx="1234440" cy="123444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71032" y="126187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815584" y="2221992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507224" y="914400"/>
            <a:ext cx="1234440" cy="12344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07224" y="126187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51776" y="2221992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043416" y="914400"/>
            <a:ext cx="1234440" cy="1234440"/>
          </a:xfrm>
          <a:prstGeom prst="ellipse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43416" y="126187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887968" y="2221992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Orgs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579608" y="914400"/>
            <a:ext cx="1234440" cy="1234440"/>
          </a:xfrm>
          <a:prstGeom prst="ellipse">
            <a:avLst/>
          </a:prstGeom>
          <a:solidFill>
            <a:srgbClr val="5E548E"/>
          </a:solidFill>
          <a:ln w="12700">
            <a:solidFill>
              <a:srgbClr val="5E548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79608" y="126187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424160" y="2221992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Beneficiaries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434840" y="3401568"/>
            <a:ext cx="1234440" cy="1234440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34840" y="37490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279392" y="470916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971032" y="3401568"/>
            <a:ext cx="1234440" cy="12344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71032" y="37490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815584" y="470916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Institutions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507224" y="3401568"/>
            <a:ext cx="1234440" cy="12344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07224" y="37490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FND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351776" y="470916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Agencies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043416" y="3401568"/>
            <a:ext cx="1234440" cy="123444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43416" y="37490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SWK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887968" y="470916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Workers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0579608" y="3401568"/>
            <a:ext cx="1234440" cy="123444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579608" y="37490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CRP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0424160" y="470916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 Partners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434840" y="6035040"/>
            <a:ext cx="7406640" cy="594360"/>
          </a:xfrm>
          <a:prstGeom prst="rect">
            <a:avLst/>
          </a:prstGeom>
          <a:solidFill>
            <a:srgbClr val="E4F0E8"/>
          </a:solidFill>
          <a:ln w="12700">
            <a:solidFill>
              <a:srgbClr val="52B788">
                <a:alpha val="55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34840" y="603504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Modules  -  55 DB Tables  -  163 Stored Procedures  -  115+ API Endpoints  -  React Native App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social sector is the world's largest -- and almost entirely undigitized.</a:t>
            </a:r>
            <a:endParaRPr lang="en-US" sz="13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353312"/>
          <a:ext cx="5760720" cy="5166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1353312"/>
            <a:ext cx="55321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F0E8"/>
            </a:solidFill>
            <a:prstDash val="solid"/>
          </a:ln>
          <a:effectLst>
            <a:outerShdw blurRad="76200" dist="254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309360" y="1353312"/>
            <a:ext cx="82296" cy="1170432"/>
          </a:xfrm>
          <a:prstGeom prst="rect">
            <a:avLst/>
          </a:prstGeom>
          <a:solidFill>
            <a:srgbClr val="2D8A4E"/>
          </a:solidFill>
          <a:ln w="12700">
            <a:solidFill>
              <a:srgbClr val="2D8A4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0" y="144475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Companies Act 2013 -- CSR Mandate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92240" y="1828800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of net profit for all companies with INR 5 Cr+ net profit -- generating INR 15,000+ Cr annually.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309360" y="2660904"/>
            <a:ext cx="55321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F0E8"/>
            </a:solidFill>
            <a:prstDash val="solid"/>
          </a:ln>
          <a:effectLst>
            <a:outerShdw blurRad="76200" dist="254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09360" y="2660904"/>
            <a:ext cx="82296" cy="1170432"/>
          </a:xfrm>
          <a:prstGeom prst="rect">
            <a:avLst/>
          </a:prstGeom>
          <a:solidFill>
            <a:srgbClr val="2D8A4E"/>
          </a:solidFill>
          <a:ln w="12700">
            <a:solidFill>
              <a:srgbClr val="2D8A4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0" y="2752344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FCRA 2020 Compliance Push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92240" y="3136392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Stricter foreign fund regulations drive NGOs toward auditable, compliant digital platforms.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309360" y="3968496"/>
            <a:ext cx="55321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F0E8"/>
            </a:solidFill>
            <a:prstDash val="solid"/>
          </a:ln>
          <a:effectLst>
            <a:outerShdw blurRad="76200" dist="254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09360" y="3968496"/>
            <a:ext cx="82296" cy="1170432"/>
          </a:xfrm>
          <a:prstGeom prst="rect">
            <a:avLst/>
          </a:prstGeom>
          <a:solidFill>
            <a:srgbClr val="2D8A4E"/>
          </a:solidFill>
          <a:ln w="12700">
            <a:solidFill>
              <a:srgbClr val="2D8A4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92240" y="4059936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India &amp; Smartphone Reach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92240" y="4443984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650M+ smartphone users. Internet expanding to tier-2/3 cities. NGO digital adoption accelerating.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309360" y="5276088"/>
            <a:ext cx="55321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F0E8"/>
            </a:solidFill>
            <a:prstDash val="solid"/>
          </a:ln>
          <a:effectLst>
            <a:outerShdw blurRad="76200" dist="254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309360" y="5276088"/>
            <a:ext cx="82296" cy="1170432"/>
          </a:xfrm>
          <a:prstGeom prst="rect">
            <a:avLst/>
          </a:prstGeom>
          <a:solidFill>
            <a:srgbClr val="2D8A4E"/>
          </a:solidFill>
          <a:ln w="12700">
            <a:solidFill>
              <a:srgbClr val="2D8A4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92240" y="536752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Philanthropy Report 2024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92240" y="5751576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giving grew 35% YoY. Gen Z volunteers prefer app-first engagement over physical camps.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compounding revenue streams -- built into the product from day one.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65760" y="1389888"/>
            <a:ext cx="5623560" cy="1627632"/>
          </a:xfrm>
          <a:prstGeom prst="roundRect">
            <a:avLst/>
          </a:prstGeom>
          <a:solidFill>
            <a:srgbClr val="F2F8F4"/>
          </a:solidFill>
          <a:ln w="12700">
            <a:solidFill>
              <a:srgbClr val="E4F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18488"/>
            <a:ext cx="594360" cy="594360"/>
          </a:xfrm>
          <a:prstGeom prst="ellipse">
            <a:avLst/>
          </a:prstGeom>
          <a:solidFill>
            <a:srgbClr val="2D8A4E"/>
          </a:solidFill>
          <a:ln w="12700">
            <a:solidFill>
              <a:srgbClr val="2D8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6184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07592" y="1527048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NGO SaaS Subscriptions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07592" y="1938528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D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-&gt; Starter INR 999/mo -&gt; Pro INR 2,499/mo -&gt; Enterprise INR 4,999/mo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307592" y="235000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engine. 75K NGOs x avg INR 1,500/mo = INR 135 Cr ARR at full scale.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389888"/>
            <a:ext cx="5623560" cy="1627632"/>
          </a:xfrm>
          <a:prstGeom prst="roundRect">
            <a:avLst/>
          </a:prstGeom>
          <a:solidFill>
            <a:srgbClr val="F2F8F4"/>
          </a:solidFill>
          <a:ln w="12700">
            <a:solidFill>
              <a:srgbClr val="E4F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19088" y="1618488"/>
            <a:ext cx="594360" cy="59436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16184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59752" y="1527048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Donation Transaction Fee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59752" y="1938528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1.5% platform fee on all donations processed via Razorpay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59752" y="235000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100 Cr donation flow = INR 1.5 Cr revenue. Scales automatically.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5623560" cy="1627632"/>
          </a:xfrm>
          <a:prstGeom prst="roundRect">
            <a:avLst/>
          </a:prstGeom>
          <a:solidFill>
            <a:srgbClr val="F2F8F4"/>
          </a:solidFill>
          <a:ln w="12700">
            <a:solidFill>
              <a:srgbClr val="E4F0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3383280"/>
            <a:ext cx="594360" cy="5943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383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07592" y="329184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CSR Partner Portal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07592" y="370332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50K-2L/year: impact dashboards, 80G compliance, verified NGO access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307592" y="41148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corporates spending INR 1 Cr+ on CSR. Compliance pressure drives adoption.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3154680"/>
            <a:ext cx="5623560" cy="1627632"/>
          </a:xfrm>
          <a:prstGeom prst="roundRect">
            <a:avLst/>
          </a:prstGeom>
          <a:solidFill>
            <a:srgbClr val="F2F8F4"/>
          </a:solidFill>
          <a:ln w="12700">
            <a:solidFill>
              <a:srgbClr val="E4F0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19088" y="3383280"/>
            <a:ext cx="594360" cy="59436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3383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59752" y="329184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&amp; Institutional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159752" y="370332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State/district deployment contracts: INR 10L-1 Cr per engagement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159752" y="41148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NSDC, state rural development depts. High value, low volume, high retention.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919472"/>
            <a:ext cx="5623560" cy="1627632"/>
          </a:xfrm>
          <a:prstGeom prst="roundRect">
            <a:avLst/>
          </a:prstGeom>
          <a:solidFill>
            <a:srgbClr val="F2F8F4"/>
          </a:solidFill>
          <a:ln w="12700">
            <a:solidFill>
              <a:srgbClr val="E4F0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5148072"/>
            <a:ext cx="594360" cy="59436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51480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307592" y="5056632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&amp; API Marketplace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307592" y="5468112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15K one-time verification badge + API licensing for third parties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307592" y="587959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NGO network becomes a trusted data layer with standalone value.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4919472"/>
            <a:ext cx="5623560" cy="1627632"/>
          </a:xfrm>
          <a:prstGeom prst="roundRect">
            <a:avLst/>
          </a:prstGeom>
          <a:solidFill>
            <a:srgbClr val="F2F8F4"/>
          </a:solidFill>
          <a:ln w="12700">
            <a:solidFill>
              <a:srgbClr val="E4F0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19088" y="5148072"/>
            <a:ext cx="594360" cy="5943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19088" y="51480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59752" y="5056632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Premium Add-Ons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7159752" y="5468112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impact reports, grant matching, advanced analytics -- add-on tier pricing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159752" y="587959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unlock. High margin, zero marginal cost. Deepens platform stickiness.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5-Year Growth Projection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model -- assumes &lt;1% NGO market penetration by Year 5</a:t>
            </a:r>
            <a:endParaRPr lang="en-US" sz="13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353312"/>
          <a:ext cx="6949440" cy="5138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543800" y="1353312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Year-by-Year Milestones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543800" y="1920240"/>
            <a:ext cx="4343400" cy="850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F0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62672" y="19933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8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Y1  2026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662672" y="23774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NGOs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9098280" y="2011680"/>
            <a:ext cx="1143000" cy="338328"/>
          </a:xfrm>
          <a:prstGeom prst="roundRect">
            <a:avLst/>
          </a:prstGeom>
          <a:solidFill>
            <a:srgbClr val="E4F0E8"/>
          </a:solidFill>
          <a:ln w="12700">
            <a:solidFill>
              <a:srgbClr val="52B788">
                <a:alpha val="5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098280" y="2011680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8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INR 30L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351008" y="201168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Product-market fit, pilot NGOs onboarded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7543800" y="2898648"/>
            <a:ext cx="4343400" cy="850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F0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62672" y="2971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8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Y2  2027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662672" y="33558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NGOs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9098280" y="2990088"/>
            <a:ext cx="1143000" cy="338328"/>
          </a:xfrm>
          <a:prstGeom prst="roundRect">
            <a:avLst/>
          </a:prstGeom>
          <a:solidFill>
            <a:srgbClr val="E4F0E8"/>
          </a:solidFill>
          <a:ln w="12700">
            <a:solidFill>
              <a:srgbClr val="52B788">
                <a:alpha val="5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98280" y="2990088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8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INR 1.5 Cr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351008" y="2990088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portal live, Razorpay transactions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7543800" y="3877056"/>
            <a:ext cx="4343400" cy="850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F0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62672" y="39502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8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Y3  2028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662672" y="43342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 NGOs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098280" y="3968496"/>
            <a:ext cx="1143000" cy="338328"/>
          </a:xfrm>
          <a:prstGeom prst="roundRect">
            <a:avLst/>
          </a:prstGeom>
          <a:solidFill>
            <a:srgbClr val="E4F0E8"/>
          </a:solidFill>
          <a:ln w="12700">
            <a:solidFill>
              <a:srgbClr val="52B788">
                <a:alpha val="5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098280" y="3968496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8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INR 7 Cr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351008" y="3968496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govt contract, AI feature launch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7543800" y="4855464"/>
            <a:ext cx="4343400" cy="850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F0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62672" y="492861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8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Y4  2029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662672" y="53126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 NGOs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9098280" y="4946904"/>
            <a:ext cx="1143000" cy="338328"/>
          </a:xfrm>
          <a:prstGeom prst="roundRect">
            <a:avLst/>
          </a:prstGeom>
          <a:solidFill>
            <a:srgbClr val="E4F0E8"/>
          </a:solidFill>
          <a:ln w="12700">
            <a:solidFill>
              <a:srgbClr val="52B788">
                <a:alpha val="5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098280" y="4946904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8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INR 25 Cr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0351008" y="4946904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A, 3-state govt deployments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7543800" y="5833872"/>
            <a:ext cx="4343400" cy="850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F0E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662672" y="590702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8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Y5  2030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662672" y="62910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75,000 NGOs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9098280" y="5925312"/>
            <a:ext cx="1143000" cy="338328"/>
          </a:xfrm>
          <a:prstGeom prst="roundRect">
            <a:avLst/>
          </a:prstGeom>
          <a:solidFill>
            <a:srgbClr val="E4F0E8"/>
          </a:solidFill>
          <a:ln w="12700">
            <a:solidFill>
              <a:srgbClr val="52B788">
                <a:alpha val="50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098280" y="5925312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8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INR 80 Cr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0351008" y="5925312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B, Southeast Asia expansion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Traction &amp; Why Now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24128"/>
            <a:ext cx="2633472" cy="1298448"/>
          </a:xfrm>
          <a:prstGeom prst="roundRect">
            <a:avLst/>
          </a:prstGeom>
          <a:solidFill>
            <a:srgbClr val="0D2B1A"/>
          </a:solidFill>
          <a:ln w="12700">
            <a:solidFill>
              <a:srgbClr val="2D8A4E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15568"/>
            <a:ext cx="2633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801368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A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Modules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0" y="1024128"/>
            <a:ext cx="2633472" cy="1298448"/>
          </a:xfrm>
          <a:prstGeom prst="roundRect">
            <a:avLst/>
          </a:prstGeom>
          <a:solidFill>
            <a:srgbClr val="0D2B1A"/>
          </a:solidFill>
          <a:ln w="12700">
            <a:solidFill>
              <a:srgbClr val="2D8A4E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115568"/>
            <a:ext cx="2633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00400" y="1801368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A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35040" y="1024128"/>
            <a:ext cx="2633472" cy="1298448"/>
          </a:xfrm>
          <a:prstGeom prst="roundRect">
            <a:avLst/>
          </a:prstGeom>
          <a:solidFill>
            <a:srgbClr val="0D2B1A"/>
          </a:solidFill>
          <a:ln w="12700">
            <a:solidFill>
              <a:srgbClr val="2D8A4E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115568"/>
            <a:ext cx="2633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035040" y="1801368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A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869680" y="1024128"/>
            <a:ext cx="2633472" cy="1298448"/>
          </a:xfrm>
          <a:prstGeom prst="roundRect">
            <a:avLst/>
          </a:prstGeom>
          <a:solidFill>
            <a:srgbClr val="0D2B1A"/>
          </a:solidFill>
          <a:ln w="12700">
            <a:solidFill>
              <a:srgbClr val="2D8A4E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0" y="1115568"/>
            <a:ext cx="2633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115+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869680" y="1801368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A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505456"/>
            <a:ext cx="2633472" cy="1298448"/>
          </a:xfrm>
          <a:prstGeom prst="roundRect">
            <a:avLst/>
          </a:prstGeom>
          <a:solidFill>
            <a:srgbClr val="E4F0E8"/>
          </a:solidFill>
          <a:ln w="12700">
            <a:solidFill>
              <a:srgbClr val="52B788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596896"/>
            <a:ext cx="2633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D8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65760" y="3282696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Screens (Prototype)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0" y="2505456"/>
            <a:ext cx="2633472" cy="1298448"/>
          </a:xfrm>
          <a:prstGeom prst="roundRect">
            <a:avLst/>
          </a:prstGeom>
          <a:solidFill>
            <a:srgbClr val="E4F0E8"/>
          </a:solidFill>
          <a:ln w="12700">
            <a:solidFill>
              <a:srgbClr val="52B788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2596896"/>
            <a:ext cx="2633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D8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3200400" y="3282696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Lookup Types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35040" y="2505456"/>
            <a:ext cx="2633472" cy="1298448"/>
          </a:xfrm>
          <a:prstGeom prst="roundRect">
            <a:avLst/>
          </a:prstGeom>
          <a:solidFill>
            <a:srgbClr val="E4F0E8"/>
          </a:solidFill>
          <a:ln w="12700">
            <a:solidFill>
              <a:srgbClr val="52B788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2596896"/>
            <a:ext cx="2633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D8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035040" y="3282696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Staging Deployed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869680" y="2505456"/>
            <a:ext cx="2633472" cy="1298448"/>
          </a:xfrm>
          <a:prstGeom prst="roundRect">
            <a:avLst/>
          </a:prstGeom>
          <a:solidFill>
            <a:srgbClr val="E4F0E8"/>
          </a:solidFill>
          <a:ln w="12700">
            <a:solidFill>
              <a:srgbClr val="52B788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0" y="2596896"/>
            <a:ext cx="2633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D8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v4.9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8869680" y="3282696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Platform Version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4160520"/>
            <a:ext cx="11384280" cy="365760"/>
          </a:xfrm>
          <a:prstGeom prst="rect">
            <a:avLst/>
          </a:prstGeom>
          <a:solidFill>
            <a:srgbClr val="E4F0E8"/>
          </a:solidFill>
          <a:ln w="12700">
            <a:solidFill>
              <a:srgbClr val="E4F0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160520"/>
            <a:ext cx="11384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8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636008"/>
            <a:ext cx="2743200" cy="1938528"/>
          </a:xfrm>
          <a:prstGeom prst="roundRect">
            <a:avLst/>
          </a:prstGeom>
          <a:solidFill>
            <a:srgbClr val="F2F8F4"/>
          </a:solidFill>
          <a:ln w="12700">
            <a:solidFill>
              <a:srgbClr val="E4F0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47274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Post-COVID NGO Digitization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" y="5230368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Pandemic forced NGOs online. Digital-first operations are now expected, not optional.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64408" y="4636008"/>
            <a:ext cx="2743200" cy="1938528"/>
          </a:xfrm>
          <a:prstGeom prst="roundRect">
            <a:avLst/>
          </a:prstGeom>
          <a:solidFill>
            <a:srgbClr val="F2F8F4"/>
          </a:solidFill>
          <a:ln w="12700">
            <a:solidFill>
              <a:srgbClr val="E4F0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29000" y="47274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Smartphone Penetration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29000" y="5230368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650M+ smartphone users. Volunteers and donors are mobile-first, ready for app-led engagement.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63056" y="4636008"/>
            <a:ext cx="2743200" cy="1938528"/>
          </a:xfrm>
          <a:prstGeom prst="roundRect">
            <a:avLst/>
          </a:prstGeom>
          <a:solidFill>
            <a:srgbClr val="F2F8F4"/>
          </a:solidFill>
          <a:ln w="12700">
            <a:solidFill>
              <a:srgbClr val="E4F0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27648" y="47274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Tailwind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27648" y="5230368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FCRA 2020 + tightened CSR reporting norms create demand for compliant digital infrastructure.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061704" y="4636008"/>
            <a:ext cx="2743200" cy="1938528"/>
          </a:xfrm>
          <a:prstGeom prst="roundRect">
            <a:avLst/>
          </a:prstGeom>
          <a:solidFill>
            <a:srgbClr val="F2F8F4"/>
          </a:solidFill>
          <a:ln w="12700">
            <a:solidFill>
              <a:srgbClr val="E4F0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26296" y="47274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AI-Ready Architecture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226296" y="5230368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designed for AI from day one -- impact prediction, grant matching, volunteer scoring.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2D8A4E">
              <a:alpha val="17000"/>
            </a:srgbClr>
          </a:solidFill>
          <a:ln w="12700">
            <a:solidFill>
              <a:srgbClr val="2D8A4E">
                <a:alpha val="1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731520"/>
            <a:ext cx="2743200" cy="2743200"/>
          </a:xfrm>
          <a:prstGeom prst="ellipse">
            <a:avLst/>
          </a:prstGeom>
          <a:solidFill>
            <a:srgbClr val="52B788">
              <a:alpha val="12000"/>
            </a:srgbClr>
          </a:solidFill>
          <a:ln w="12700">
            <a:solidFill>
              <a:srgbClr val="52B788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7132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Us in Digitalizing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Social Economy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2852928"/>
            <a:ext cx="5669280" cy="804672"/>
          </a:xfrm>
          <a:prstGeom prst="roundRect">
            <a:avLst/>
          </a:prstGeom>
          <a:solidFill>
            <a:srgbClr val="1B5E35">
              <a:alpha val="65000"/>
            </a:srgbClr>
          </a:solidFill>
          <a:ln w="12700">
            <a:solidFill>
              <a:srgbClr val="52B788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52928"/>
            <a:ext cx="5669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Raising: INR 3 Crore  (~$360K USD)  -  18-Month Runway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822192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of Funds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370832"/>
            <a:ext cx="731520" cy="384048"/>
          </a:xfrm>
          <a:prstGeom prst="roundRect">
            <a:avLst/>
          </a:prstGeom>
          <a:solidFill>
            <a:srgbClr val="2D8A4E"/>
          </a:solidFill>
          <a:ln w="12700">
            <a:solidFill>
              <a:srgbClr val="2D8A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37083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89888" y="4407408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Product -- mobile app, AI features, scale infrastructure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882896"/>
            <a:ext cx="731520" cy="384048"/>
          </a:xfrm>
          <a:prstGeom prst="roundRect">
            <a:avLst/>
          </a:prstGeom>
          <a:solidFill>
            <a:srgbClr val="2D8A4E"/>
          </a:solidFill>
          <a:ln w="12700">
            <a:solidFill>
              <a:srgbClr val="2D8A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88289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89888" y="4919472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NGO Onboarding -- 500 NGOs onboarded in Year 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5394960"/>
            <a:ext cx="731520" cy="384048"/>
          </a:xfrm>
          <a:prstGeom prst="roundRect">
            <a:avLst/>
          </a:prstGeom>
          <a:solidFill>
            <a:srgbClr val="2D8A4E"/>
          </a:solidFill>
          <a:ln w="12700">
            <a:solidFill>
              <a:srgbClr val="2D8A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539496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89888" y="5431536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Legal -- FCRA, 80G integration, data privacy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907024"/>
            <a:ext cx="731520" cy="384048"/>
          </a:xfrm>
          <a:prstGeom prst="roundRect">
            <a:avLst/>
          </a:prstGeom>
          <a:solidFill>
            <a:srgbClr val="2D8A4E"/>
          </a:solidFill>
          <a:ln w="12700">
            <a:solidFill>
              <a:srgbClr val="2D8A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90702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89888" y="594360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Reserve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gauravshukla1409@gmail.com  -  </a:t>
            </a:r>
            <a:r>
              <a:rPr lang="en-US" sz="950" dirty="0" err="1">
                <a:solidFill>
                  <a:srgbClr val="6B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Ripplehub</a:t>
            </a:r>
            <a:r>
              <a:rPr lang="en-US" sz="950" dirty="0">
                <a:solidFill>
                  <a:srgbClr val="6B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Platform  -  India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92240" y="1097280"/>
            <a:ext cx="5349240" cy="5486400"/>
          </a:xfrm>
          <a:prstGeom prst="roundRect">
            <a:avLst/>
          </a:prstGeom>
          <a:solidFill>
            <a:srgbClr val="1B5E35">
              <a:alpha val="38000"/>
            </a:srgbClr>
          </a:solidFill>
          <a:ln w="12700">
            <a:solidFill>
              <a:srgbClr val="2D8A4E">
                <a:alpha val="4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138988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2030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766560" y="2084832"/>
            <a:ext cx="201168" cy="20116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68312" y="2039112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75,000+ NGOs on the platform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766560" y="2761488"/>
            <a:ext cx="201168" cy="20116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68312" y="2715768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80 Cr+ Annual Recurring Revenue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766560" y="3438144"/>
            <a:ext cx="201168" cy="20116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68312" y="3392424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most trusted NGO verification network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766560" y="4114800"/>
            <a:ext cx="201168" cy="20116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68312" y="4069080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impact measurement for every project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766560" y="4791456"/>
            <a:ext cx="201168" cy="20116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68312" y="4745736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Southeast Asia expansion -- Bangladesh, Nepal, Sri Lanka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766560" y="5468112"/>
            <a:ext cx="201168" cy="20116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68312" y="5422392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/ acquisition readiness by 2030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-- Revenue Model Landscape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94944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monetization vectors -- phased for adoption, layered for compounding growth.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212848" cy="2395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8A4E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0" cy="246888"/>
          </a:xfrm>
          <a:prstGeom prst="roundRect">
            <a:avLst/>
          </a:prstGeom>
          <a:solidFill>
            <a:srgbClr val="2D8A4E"/>
          </a:solidFill>
          <a:ln w="12700">
            <a:solidFill>
              <a:srgbClr val="2D8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261872" y="1207008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2D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1517904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Freemium SaaS Subscriptions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84832"/>
            <a:ext cx="20299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Starter INR 999/mo to Pro INR 2,499/mo to Enterprise. Primary ARR engine. Network effects accelerate upgrades.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670048" y="1097280"/>
            <a:ext cx="2212848" cy="2395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8A4E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61488" y="1188720"/>
            <a:ext cx="731520" cy="246888"/>
          </a:xfrm>
          <a:prstGeom prst="roundRect">
            <a:avLst/>
          </a:prstGeom>
          <a:solidFill>
            <a:srgbClr val="2D8A4E"/>
          </a:solidFill>
          <a:ln w="12700">
            <a:solidFill>
              <a:srgbClr val="2D8A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61488" y="1188720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566160" y="1207008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2D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Fee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761488" y="1517904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Donation Transaction Fee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61488" y="2084832"/>
            <a:ext cx="20299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1.5% on every donation processed via Razorpay. Passive flywheel -- revenue scales automatically with platform usage.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974336" y="1097280"/>
            <a:ext cx="2212848" cy="2395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261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65776" y="1188720"/>
            <a:ext cx="731520" cy="246888"/>
          </a:xfrm>
          <a:prstGeom prst="round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65776" y="1188720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870448" y="1207008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Marketplace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065776" y="1517904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CSR B2B Marketplace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65776" y="2084832"/>
            <a:ext cx="20299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Corporates pay INR 50K-2L/yr for curated, verified NGOs matching their CSR mandate. Like AngelList for CSR funding.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278624" y="1097280"/>
            <a:ext cx="2212848" cy="2395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261">
                <a:alpha val="6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70064" y="1188720"/>
            <a:ext cx="731520" cy="246888"/>
          </a:xfrm>
          <a:prstGeom prst="round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70064" y="1188720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8174736" y="1207008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Layer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370064" y="1517904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NGO Verification Badge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70064" y="2084832"/>
            <a:ext cx="20299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15K one-time + INR 5K/year renewal. Donors trust badges before giving. 10,000 verified NGOs = INR 15 Cr ARR.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9582912" y="1097280"/>
            <a:ext cx="2212848" cy="2395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261">
                <a:alpha val="6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74352" y="1188720"/>
            <a:ext cx="731520" cy="246888"/>
          </a:xfrm>
          <a:prstGeom prst="round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74352" y="1188720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0479024" y="1207008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Credential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674352" y="1517904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Volunteer Credentialing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74352" y="2084832"/>
            <a:ext cx="20299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Blockchain-verifiable impact certificates for volunteers. INR 99-299/cert or NGO bulk credits. LinkedIn Premium equivalent.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365760" y="3602736"/>
            <a:ext cx="2212848" cy="2395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261">
                <a:alpha val="6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3694176"/>
            <a:ext cx="731520" cy="246888"/>
          </a:xfrm>
          <a:prstGeom prst="round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69417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261872" y="3712464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+ Commission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57200" y="4023360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Grant Discovery &amp; Matching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4590288"/>
            <a:ext cx="20299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4,999/yr database access + 2-3% success fee on funded grants. India has INR 70,000 Cr in unclaimed grants annually.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2670048" y="3602736"/>
            <a:ext cx="2212848" cy="2395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57B9D">
                <a:alpha val="6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61488" y="3694176"/>
            <a:ext cx="731520" cy="246888"/>
          </a:xfrm>
          <a:prstGeom prst="round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61488" y="369417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566160" y="3712464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761488" y="4023360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White-Label API Licensing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761488" y="4590288"/>
            <a:ext cx="20299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to state govts, UNDP, NGO federations at INR 20L-2 Cr per deployment. One contract = 2 yrs of SaaS revenue.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4974336" y="3602736"/>
            <a:ext cx="2212848" cy="2395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57B9D">
                <a:alpha val="6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65776" y="3694176"/>
            <a:ext cx="731520" cy="246888"/>
          </a:xfrm>
          <a:prstGeom prst="round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65776" y="369417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870448" y="3712464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065776" y="4023360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Skills-Based Volunteer Marketplace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065776" y="4590288"/>
            <a:ext cx="20299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Corporates post pro-bono assignments. Platform matches skilled professionals. INR 5K-50K per successful placement.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7278624" y="3602736"/>
            <a:ext cx="2212848" cy="2395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57B9D">
                <a:alpha val="6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70064" y="3694176"/>
            <a:ext cx="731520" cy="246888"/>
          </a:xfrm>
          <a:prstGeom prst="round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70064" y="369417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8174736" y="3712464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Fintech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7370064" y="4023360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NGO Insurance Distribution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370064" y="4590288"/>
            <a:ext cx="20299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accident insurance, director liability, event coverage. 10-15% referral commission. Zero underwriting risk.</a:t>
            </a:r>
            <a:endParaRPr lang="en-US" sz="880" dirty="0"/>
          </a:p>
        </p:txBody>
      </p:sp>
      <p:sp>
        <p:nvSpPr>
          <p:cNvPr id="58" name="Shape 56"/>
          <p:cNvSpPr/>
          <p:nvPr/>
        </p:nvSpPr>
        <p:spPr>
          <a:xfrm>
            <a:off x="9582912" y="3602736"/>
            <a:ext cx="2212848" cy="2395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57B9D">
                <a:alpha val="6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674352" y="3694176"/>
            <a:ext cx="731520" cy="246888"/>
          </a:xfrm>
          <a:prstGeom prst="round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674352" y="369417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10479024" y="3712464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EdTech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9674352" y="4023360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NGO Training &amp; Certification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9674352" y="4590288"/>
            <a:ext cx="20299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courses: FCRA compliance, grant writing, volunteer management. INR 999-4,999/course. INR 200 Cr market in India.</a:t>
            </a:r>
            <a:endParaRPr lang="en-US" sz="880" dirty="0"/>
          </a:p>
        </p:txBody>
      </p:sp>
      <p:sp>
        <p:nvSpPr>
          <p:cNvPr id="64" name="Shape 62"/>
          <p:cNvSpPr/>
          <p:nvPr/>
        </p:nvSpPr>
        <p:spPr>
          <a:xfrm>
            <a:off x="365760" y="6492240"/>
            <a:ext cx="182880" cy="182880"/>
          </a:xfrm>
          <a:prstGeom prst="ellipse">
            <a:avLst/>
          </a:prstGeom>
          <a:solidFill>
            <a:srgbClr val="2D8A4E"/>
          </a:solidFill>
          <a:ln w="12700">
            <a:solidFill>
              <a:srgbClr val="2D8A4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1792" y="64739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--  Building Now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297680" y="6492240"/>
            <a:ext cx="182880" cy="1828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53712" y="64739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--  Next 12-24 Months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8229600" y="6492240"/>
            <a:ext cx="182880" cy="18288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485632" y="64739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--  Scale &amp; Partnerships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1328</Words>
  <Application>Microsoft Office PowerPoint</Application>
  <PresentationFormat>Widescreen</PresentationFormat>
  <Paragraphs>232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Gaurav Shukla</cp:lastModifiedBy>
  <cp:revision>3</cp:revision>
  <dcterms:created xsi:type="dcterms:W3CDTF">2026-07-19T10:33:12Z</dcterms:created>
  <dcterms:modified xsi:type="dcterms:W3CDTF">2026-07-19T10:43:12Z</dcterms:modified>
</cp:coreProperties>
</file>